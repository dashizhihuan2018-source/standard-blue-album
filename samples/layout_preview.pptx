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6336000" cy="9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472000"/>
            <a:ext cx="6336000" cy="3528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8000" y="5670000"/>
            <a:ext cx="5112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1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STANDARD BLUE ALBUM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6030000"/>
            <a:ext cx="5112000" cy="5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29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6822000"/>
            <a:ext cx="5112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STANDARDIZED GUIDELINE FOR DEMOLITION-REBUILD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7415999"/>
            <a:ext cx="1620000" cy="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7505999"/>
            <a:ext cx="5112000" cy="8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40000"/>
              </a:lnSpc>
            </a:pPr>
            <a:r>
              <a:rPr sz="105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主编单位：</a:t>
            </a:r>
            <a:r>
              <a:rPr sz="10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示例主编单位</a:t>
            </a:r>
          </a:p>
          <a:p>
            <a:pPr hangingPunct="0">
              <a:lnSpc>
                <a:spcPct val="140000"/>
              </a:lnSpc>
            </a:pPr>
            <a:r>
              <a:rPr sz="1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参编单位：</a:t>
            </a:r>
            <a:r>
              <a:rPr sz="10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示例参编单位</a:t>
            </a:r>
          </a:p>
          <a:p>
            <a:pPr hangingPunct="0">
              <a:lnSpc>
                <a:spcPct val="140000"/>
              </a:lnSpc>
            </a:pPr>
            <a:r>
              <a:rPr sz="105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发布日期：</a:t>
            </a:r>
            <a:r>
              <a:rPr sz="10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2026年7月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8567999"/>
            <a:ext cx="4103999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68000" y="8514000"/>
            <a:ext cx="792000" cy="27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68000" y="8514000"/>
            <a:ext cx="792000" cy="2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10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公开示例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编委会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EDITORIAL BOARD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编委会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主编单位：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1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参编单位：</a:t>
            </a:r>
          </a:p>
          <a:p>
            <a:pPr hangingPunct="0">
              <a:lnSpc>
                <a:spcPct val="150000"/>
              </a:lnSpc>
              <a:spcAft>
                <a:spcPts val="3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发布日期：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655999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2167200"/>
            <a:ext cx="5112000" cy="32400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tabLst>
                <a:tab pos="503999" algn="l"/>
                <a:tab pos="5112000" algn="r"/>
              </a:tabLs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02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二、技术标准</a:t>
            </a:r>
            <a:r>
              <a:rPr sz="1250">
                <a:latin typeface="Source Han Serif CN"/>
                <a:ea typeface="Source Han Serif CN"/>
                <a:cs typeface="Source Han Serif CN"/>
              </a:rPr>
              <a:t>	</a:t>
            </a: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6000" cy="9000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9000000"/>
          </a:xfrm>
          <a:prstGeom prst="rect">
            <a:avLst/>
          </a:prstGeom>
          <a:solidFill>
            <a:srgbClr val="002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60000" y="4680000"/>
            <a:ext cx="5040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2800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512000"/>
            <a:ext cx="32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4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248000"/>
            <a:ext cx="511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/>
            <a:r>
              <a:rPr sz="48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总则</a:t>
            </a:r>
          </a:p>
          <a:p>
            <a:pPr hangingPunct="0">
              <a:spcBef>
                <a:spcPts val="800"/>
              </a:spcBef>
            </a:pPr>
            <a:r>
              <a:rPr sz="14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GENERAL PRINCIPLES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" y="5616000"/>
            <a:ext cx="1800000" cy="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5868000"/>
            <a:ext cx="5112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spcAft>
                <a:spcPts val="600"/>
              </a:spcAft>
            </a:pPr>
            <a:r>
              <a:rPr sz="1000" b="1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本章内容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.1 适用范围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1 .2 工作程序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8460000"/>
            <a:ext cx="48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.1 适用范围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原拆原建是指在原址按原有建筑规模⁠、高度⁠、外观及使用功能进行拆除并重建的建设方式⁠，适用于历史文化街区保护更新⁠、老旧小区有机更新以及功能严重滞后的既有建筑改造等场景⁠。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在历史文化街区中⁠，原拆原建应在不改变街区整体风貌与街巷尺度的前提下⁠，改善建筑内部空间⁠、设施条件与使用环境⁠；老旧小区更新应充分尊重居民意愿⁠，完善公共服务配套与无障碍设施⁠；功能滞后建筑改造应结合城市规划要求⁠，提升土地集约利用水平与安全韧性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适用范围不包括文物建筑⁠、历史建筑以及法律法规规定不得拆除的建筑⁠。涉及风貌保护⁠、消防安全⁠、结构安全⁠、公共利益的特殊情形⁠，应依法履行专家论证⁠、审批公示与社会稳定风险评估等程序⁠，确保更新工作合法合规⁠、稳妥可控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各地可结合实际情况制定实施细则⁠，明确原拆原建项目的准入条件⁠、审批流程⁠、技术标准⁠、监管要求和退出机制⁠，形成市⁠、区⁠、街道三级协同的管理机制⁠；鼓励引入全过程工程咨询⁠，统筹设计⁠、施工⁠、监理与运维各方责任⁠。</a:t>
            </a:r>
          </a:p>
          <a:p>
            <a:pPr hangingPunct="0">
              <a:lnSpc>
                <a:spcPct val="115000"/>
              </a:lnSpc>
              <a:spcBef>
                <a:spcPts val="800"/>
              </a:spcBef>
              <a:spcAft>
                <a:spcPts val="300"/>
              </a:spcAft>
            </a:pPr>
            <a:r>
              <a:rPr sz="115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1.1 .1 基本原则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开展原拆原建工作应当坚持尊重原有风貌⁠、保障结构安全⁠、提升使用功能⁠、控制建设成本的基本原则⁠，在保留场所记忆的同时改善人居环境⁠。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风貌协调原则要求新建建筑在体量⁠、高度⁠、色彩⁠、材质⁠、檐口线脚等方面与周边环境相协调⁠；安全优先原则要求以现行国家标准为依据⁠，开展全过程安全鉴定与监测⁠；经济合理原则要求统筹一次投入与长期运维成本⁠，避免过度建设⁠。</a:t>
            </a:r>
          </a:p>
          <a:p>
            <a:pPr hangingPunct="0">
              <a:lnSpc>
                <a:spcPct val="115000"/>
              </a:lnSpc>
              <a:spcBef>
                <a:spcPts val="100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1 .2 工作程序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原拆原建项目一般包括现状调查⁠、安全鉴定⁠、方案编制⁠、专家论证⁠、施工实施与竣工验收六个阶段⁠，各阶段应形成完整的过程文件并归档留存⁠。</a:t>
            </a:r>
          </a:p>
          <a:p>
            <a:pPr algn="just" hangingPunct="0" indent="266700">
              <a:lnSpc>
                <a:spcPct val="155000"/>
              </a:lnSpc>
              <a:spcAft>
                <a:spcPts val="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现状调查阶段应开展建筑测绘⁠、结构检测⁠、设备评估⁠、使用情况调查和居民意愿征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 hangingPunct="0" indent="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集⁠，形成翔实的现状资料库⁠；安全鉴定阶段应由具有相应资质的机构出具鉴定报告⁠，明确结构安全等级⁠、抗震构造措施和加固改造建议⁠。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方案编制阶段应坚持原规模⁠、原高度⁠、原外观的总体要求⁠，结合结构鉴定结论和使用功能需求⁠，形成建筑⁠、结构⁠、设备⁠、景观等多专业协同的设计文件⁠；专家论证阶段应组织建筑⁠、结构⁠、历史风貌⁠、消防等领域专家进行技术审查⁠，论证意见应逐条闭环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施工实施阶段应编制专项施工组织设计和安全监测方案⁠，加强危大工程管控⁠、文明施工与绿色建造⁠；竣工验收阶段应组织建设⁠、设计⁠、施工⁠、监理和相关主管部门进行联合验收⁠，确保工程质量⁠、风貌效果和使用功能全面达标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一、总则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01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cehold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00" y="1512000"/>
            <a:ext cx="5112000" cy="30070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000" y="4540658"/>
            <a:ext cx="5112000" cy="25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图1 原建筑立面与结构体系示意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663058"/>
            <a:ext cx="5112000" cy="38401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原建筑立面与结构体系示意用于直观表达既有建筑的层数⁠、开间⁠、屋面形式⁠、主要结构构件及损伤位置⁠，为后续安全鉴定⁠、结构复核与风貌评估提供可视化依据⁠；图示内容应避免涉及真实门牌号⁠、产权人姓名等敏感信息⁠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6000" cy="9000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9000000"/>
          </a:xfrm>
          <a:prstGeom prst="rect">
            <a:avLst/>
          </a:prstGeom>
          <a:solidFill>
            <a:srgbClr val="002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-360000" y="4680000"/>
            <a:ext cx="5040000" cy="4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28000" b="1">
                <a:solidFill>
                  <a:srgbClr val="002A73"/>
                </a:solidFill>
                <a:latin typeface="Source Han Serif CN"/>
                <a:ea typeface="Source Han Serif CN"/>
                <a:cs typeface="Source Han Serif CN"/>
              </a:rPr>
              <a:t>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4000" y="1512000"/>
            <a:ext cx="324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4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4248000"/>
            <a:ext cx="5112000" cy="79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/>
            <a:r>
              <a:rPr sz="48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技术标准</a:t>
            </a:r>
          </a:p>
          <a:p>
            <a:pPr hangingPunct="0">
              <a:spcBef>
                <a:spcPts val="800"/>
              </a:spcBef>
            </a:pPr>
            <a:r>
              <a:rPr sz="14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TECHNICAL STANDARDS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36000" y="5616000"/>
            <a:ext cx="1800000" cy="14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6000" y="5868000"/>
            <a:ext cx="5112000" cy="2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spcAft>
                <a:spcPts val="600"/>
              </a:spcAft>
            </a:pPr>
            <a:r>
              <a:rPr sz="1000" b="1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本章内容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2 .1 结构安全</a:t>
            </a:r>
          </a:p>
          <a:p>
            <a:pPr hangingPunct="0">
              <a:lnSpc>
                <a:spcPct val="150000"/>
              </a:lnSpc>
            </a:pPr>
            <a:r>
              <a:rPr sz="1200" b="0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2 .2 节点构造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8460000"/>
            <a:ext cx="4824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二、技术标准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02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2 .1 结构安全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结构安全应重点核查原结构体系⁠、材料实际性能与抗震能力⁠，必要时采取整体加固或关键构件置换措施⁠，确保重建后建筑满足现行设计标准要求⁠。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重建材料应符合现行标准⁠，优先选用耐久性与可维护性良好的产品⁠，并留存完整的质量证明文件⁠。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二、技术标准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02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8000" y="2289600"/>
            <a:ext cx="1278000" cy="180000"/>
          </a:xfrm>
          <a:prstGeom prst="rect">
            <a:avLst/>
          </a:prstGeom>
          <a:solidFill>
            <a:srgbClr val="E9EFF8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23148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序号</a:t>
            </a:r>
          </a:p>
        </p:txBody>
      </p:sp>
      <p:sp>
        <p:nvSpPr>
          <p:cNvPr id="9" name="Rectangle 8"/>
          <p:cNvSpPr/>
          <p:nvPr/>
        </p:nvSpPr>
        <p:spPr>
          <a:xfrm>
            <a:off x="1925999" y="2289600"/>
            <a:ext cx="1278000" cy="180000"/>
          </a:xfrm>
          <a:prstGeom prst="rect">
            <a:avLst/>
          </a:prstGeom>
          <a:solidFill>
            <a:srgbClr val="E9EFF8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1999" y="23148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技术环节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3999" y="2289600"/>
            <a:ext cx="1278000" cy="180000"/>
          </a:xfrm>
          <a:prstGeom prst="rect">
            <a:avLst/>
          </a:prstGeom>
          <a:solidFill>
            <a:srgbClr val="E9EFF8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39999" y="23148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控制要点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2000" y="2289600"/>
            <a:ext cx="1278000" cy="180000"/>
          </a:xfrm>
          <a:prstGeom prst="rect">
            <a:avLst/>
          </a:prstGeom>
          <a:solidFill>
            <a:srgbClr val="E9EFF8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8000" y="23148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验收标准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8000" y="2469600"/>
            <a:ext cx="1278000" cy="316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2494800"/>
            <a:ext cx="1205999" cy="26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25999" y="2469600"/>
            <a:ext cx="1278000" cy="316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61999" y="2494800"/>
            <a:ext cx="1205999" cy="26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现状调查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3999" y="2469600"/>
            <a:ext cx="1278000" cy="316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39999" y="2494800"/>
            <a:ext cx="1205999" cy="26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建筑尺寸与结构形式核查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2000" y="2469600"/>
            <a:ext cx="1278000" cy="3168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8000" y="2494800"/>
            <a:ext cx="1205999" cy="26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资料完整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8000" y="27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4000" y="28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5999" y="27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61999" y="28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安全鉴定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3999" y="27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39999" y="28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结构安全等级评定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82000" y="27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18000" y="28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出具报告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8000" y="29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4000" y="29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25999" y="29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61999" y="29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地质勘察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3999" y="29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39999" y="29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地基承载力与沉降分析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82000" y="29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18000" y="29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满足设计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8000" y="31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4000" y="31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925999" y="31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1999" y="31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方案编制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3999" y="31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39999" y="31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原规模原高度原外观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2000" y="31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8000" y="31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通过评审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8000" y="33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4000" y="335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25999" y="33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961999" y="335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专家论证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3999" y="33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39999" y="335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风貌与结构双重把关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482000" y="33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18000" y="335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意见闭环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8000" y="35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4000" y="353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25999" y="35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961999" y="353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基础施工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3999" y="35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239999" y="353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扩大截面或注浆补强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2000" y="35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18000" y="353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控制沉降差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8000" y="36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4000" y="371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7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925999" y="36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961999" y="371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上部结构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3999" y="36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239999" y="371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钢筋网砂浆面层加固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482000" y="36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518000" y="371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先鉴定后设计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8000" y="38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84000" y="38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925999" y="38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961999" y="38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楼梯置换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03999" y="38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39999" y="38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现浇整体置换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82000" y="38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18000" y="389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保证疏散宽度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8000" y="40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4000" y="40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925999" y="40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961999" y="40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外围护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03999" y="40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39999" y="40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节能与防水同步提升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482000" y="40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18000" y="4071599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气密水密合格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8000" y="42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84000" y="42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10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925999" y="42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961999" y="42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设备更新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203999" y="42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239999" y="42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管线综合与管井优化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482000" y="42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18000" y="42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使用便捷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8000" y="44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84000" y="44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25999" y="44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961999" y="44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消防系统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03999" y="44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39999" y="44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疏散与报警全覆盖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482000" y="44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4518000" y="44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验收合格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8000" y="45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84000" y="46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12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925999" y="45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61999" y="46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抗震构造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3203999" y="45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3239999" y="46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关键节点可靠连接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482000" y="45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4518000" y="46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满足现行标准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48000" y="47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4000" y="47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925999" y="47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961999" y="47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材料选用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03999" y="47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39999" y="47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耐久可维护产品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482000" y="47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4518000" y="47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留存质保文件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48000" y="49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84000" y="49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14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25999" y="49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61999" y="49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过程影像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203999" y="49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239999" y="49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关键工序留痕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482000" y="49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518000" y="49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归档可查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48000" y="51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4000" y="51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925999" y="51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961999" y="51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绿色施工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203999" y="51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239999" y="51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降尘降噪与资源循环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482000" y="51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518000" y="51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文明施工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8000" y="53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84000" y="53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925999" y="53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961999" y="53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质量检验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203999" y="53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239999" y="53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分部分项抽检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4482000" y="53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4518000" y="53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合格率达标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48000" y="54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84000" y="55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17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925999" y="54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961999" y="55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安全监测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203999" y="54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239999" y="55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施工期变形观测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482000" y="54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518000" y="55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预警可控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48000" y="56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84000" y="56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18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925999" y="56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961999" y="56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竣工验收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3203999" y="56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3239999" y="56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六阶段资料汇总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4482000" y="56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518000" y="56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交付使用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648000" y="58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84000" y="58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19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925999" y="58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961999" y="58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后期运维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203999" y="58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239999" y="58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使用说明书与保修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482000" y="58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4518000" y="58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责任明确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48000" y="60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84000" y="60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1925999" y="60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961999" y="60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档案管理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203999" y="60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239999" y="60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全过程文件归集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4482000" y="60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4518000" y="60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长期保存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648000" y="62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684000" y="62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21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925999" y="62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961999" y="62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风貌保护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203999" y="62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239999" y="62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原规模原高度原外观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482000" y="62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4518000" y="62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专家认可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648000" y="63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684000" y="64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22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1925999" y="63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1961999" y="64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节能环保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3203999" y="63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3239999" y="64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围护与设备协同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482000" y="63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4518000" y="64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能耗达标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648000" y="65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84000" y="65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23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1925999" y="65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1961999" y="65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智能建造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203999" y="65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239999" y="65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BIM 全过程应用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4482000" y="65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4518000" y="65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提质增效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648000" y="67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684000" y="67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24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925999" y="67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1961999" y="67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风险管控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3203999" y="67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3239999" y="67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危大工程专项方案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482000" y="674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4518000" y="677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零事故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648000" y="69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684000" y="69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1925999" y="69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1961999" y="69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造价控制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3203999" y="69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239999" y="69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限额设计与概预算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4482000" y="692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518000" y="695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投资可控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48000" y="71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84000" y="71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26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1925999" y="71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1961999" y="71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工期管理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203999" y="71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239999" y="71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关键线路动态优化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4482000" y="710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4518000" y="713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按期竣工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648000" y="72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684000" y="73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27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1925999" y="72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961999" y="73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公众沟通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3203999" y="72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3239999" y="73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公示与意见征询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4482000" y="728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4518000" y="731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达成共识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48000" y="74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84000" y="74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28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1925999" y="74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1961999" y="74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智慧运维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3203999" y="74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3239999" y="74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监测数据平台化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4482000" y="7466399"/>
            <a:ext cx="1278000" cy="1800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4518000" y="7491600"/>
            <a:ext cx="1205999" cy="12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2000"/>
              </a:lnSpc>
            </a:pPr>
            <a:r>
              <a:rPr sz="8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长效运行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二、技术标准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02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1512000"/>
            <a:ext cx="5112000" cy="6991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hangingPunct="0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▍ 2 .2 节点构造</a:t>
            </a:r>
          </a:p>
          <a:p>
            <a:pPr algn="just" hangingPunct="0" indent="266700">
              <a:lnSpc>
                <a:spcPct val="155000"/>
              </a:lnSpc>
              <a:spcAft>
                <a:spcPts val="400"/>
              </a:spcAft>
            </a:pPr>
            <a:r>
              <a:rPr sz="1050" b="0">
                <a:solidFill>
                  <a:srgbClr val="1A1A1A"/>
                </a:solidFill>
                <a:latin typeface="Source Han Serif CN"/>
                <a:ea typeface="Source Han Serif CN"/>
                <a:cs typeface="Source Han Serif CN"/>
              </a:rPr>
              <a:t>节点构造应保证新旧构件可靠连接⁠，优先采用成熟⁠、可检的构造做法⁠，并留存关键工序的过程影像资料⁠。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251999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示例工程技术指南</a:t>
            </a:r>
          </a:p>
        </p:txBody>
      </p:sp>
      <p:sp>
        <p:nvSpPr>
          <p:cNvPr id="3" name="Rectangle 2"/>
          <p:cNvSpPr/>
          <p:nvPr/>
        </p:nvSpPr>
        <p:spPr>
          <a:xfrm>
            <a:off x="648000" y="486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630000"/>
            <a:ext cx="5112000" cy="34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1900" b="1">
                <a:solidFill>
                  <a:srgbClr val="003DA5"/>
                </a:solidFill>
                <a:latin typeface="Source Han Serif CN"/>
                <a:ea typeface="Source Han Serif CN"/>
                <a:cs typeface="Source Han Serif CN"/>
              </a:rPr>
              <a:t>二、技术标准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26000"/>
            <a:ext cx="5112000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9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CHAPTER 02 · 示例工程技术指南</a:t>
            </a:r>
          </a:p>
        </p:txBody>
      </p:sp>
      <p:sp>
        <p:nvSpPr>
          <p:cNvPr id="6" name="Rectangle 5"/>
          <p:cNvSpPr/>
          <p:nvPr/>
        </p:nvSpPr>
        <p:spPr>
          <a:xfrm>
            <a:off x="648000" y="1260000"/>
            <a:ext cx="792000" cy="144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lacehold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9" y="1512000"/>
            <a:ext cx="3000960" cy="1875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8000" y="3405600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图1 典型平面布局示意</a:t>
            </a:r>
          </a:p>
        </p:txBody>
      </p:sp>
      <p:pic>
        <p:nvPicPr>
          <p:cNvPr id="9" name="Picture 8" descr="placehold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3519" y="3549600"/>
            <a:ext cx="3000960" cy="1875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8000" y="5443200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图2 结构加固节点示意</a:t>
            </a:r>
          </a:p>
        </p:txBody>
      </p:sp>
      <p:pic>
        <p:nvPicPr>
          <p:cNvPr id="11" name="Picture 10" descr="placehold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3519" y="5587200"/>
            <a:ext cx="3000960" cy="187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8000" y="7480800"/>
            <a:ext cx="5112000" cy="1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80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图3 外立面效果示意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8000" y="8532000"/>
            <a:ext cx="5112000" cy="4320"/>
          </a:xfrm>
          <a:prstGeom prst="rect">
            <a:avLst/>
          </a:prstGeom>
          <a:noFill/>
          <a:ln w="9525">
            <a:solidFill>
              <a:srgbClr val="C9D4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8586000"/>
            <a:ext cx="35784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hangingPunct="0"/>
            <a:r>
              <a:rPr sz="750" b="0">
                <a:solidFill>
                  <a:srgbClr val="6E6E6E"/>
                </a:solidFill>
                <a:latin typeface="Source Han Serif CN"/>
                <a:ea typeface="Source Han Serif CN"/>
                <a:cs typeface="Source Han Serif CN"/>
              </a:rPr>
              <a:t>示例机构  |  公开示例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6400" y="8586000"/>
            <a:ext cx="1533600" cy="18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fld id="{4D3A1B31-561B-4472-90C7-029379FC5CB2}" type="slidenum">
              <a:rPr lang="zh-CN" smtClean="0" sz="750">
                <a:solidFill>
                  <a:srgbClr val="6E6E6E"/>
                </a:solidFill>
                <a:latin typeface="Source Han Serif CN"/>
                <a:ea typeface="Source Han Serif CN"/>
              </a:rPr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336000" cy="9000000"/>
          </a:xfrm>
          <a:prstGeom prst="rect">
            <a:avLst/>
          </a:prstGeom>
          <a:solidFill>
            <a:srgbClr val="003D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6000" cy="9000000"/>
          </a:xfrm>
          <a:prstGeom prst="rect">
            <a:avLst/>
          </a:prstGeom>
          <a:solidFill>
            <a:srgbClr val="002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600000"/>
            <a:ext cx="6336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6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匠心筑造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220000"/>
            <a:ext cx="6336000" cy="5039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6000" b="1">
                <a:solidFill>
                  <a:srgbClr val="FFFFFF"/>
                </a:solidFill>
                <a:latin typeface="Source Han Serif CN"/>
                <a:ea typeface="Source Han Serif CN"/>
                <a:cs typeface="Source Han Serif CN"/>
              </a:rPr>
              <a:t>品质焕新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7200000"/>
            <a:ext cx="6336000" cy="21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 hangingPunct="0"/>
            <a:r>
              <a:rPr sz="1100" b="0">
                <a:solidFill>
                  <a:srgbClr val="E9EFF8"/>
                </a:solidFill>
                <a:latin typeface="Source Han Serif CN"/>
                <a:ea typeface="Source Han Serif CN"/>
                <a:cs typeface="Source Han Serif CN"/>
              </a:rPr>
              <a:t>示例机构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示例工程技术指南</dc:title>
  <dc:subject/>
  <dc:creator>示例机构</dc:creator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